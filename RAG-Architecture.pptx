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fb76af2-1bb1-5ee0-1d93-9d0ce7febec9}">
          <p14:sldIdLst>
            <p14:sldId id="256"/>
          </p14:sldIdLst>
        </p14:section>
        <p14:section name="Overview" id="{6aa59802-b00d-ec63-09cb-04f17e0182e7}">
          <p14:sldIdLst>
            <p14:sldId id="257"/>
            <p14:sldId id="258"/>
          </p14:sldIdLst>
        </p14:section>
        <p14:section name="Architecture" id="{b068609b-fce6-9713-9ccd-27055307d976}">
          <p14:sldIdLst>
            <p14:sldId id="259"/>
            <p14:sldId id="260"/>
          </p14:sldIdLst>
        </p14:section>
        <p14:section name="Design decisions" id="{b5e807e2-e9ee-4b25-7b39-219093b513a9}">
          <p14:sldIdLst>
            <p14:sldId id="261"/>
            <p14:sldId id="262"/>
            <p14:sldId id="263"/>
          </p14:sldIdLst>
        </p14:section>
        <p14:section name="Results" id="{6522f431-4726-99f6-fbb2-cd8bc51ee4f5}">
          <p14:sldIdLst>
            <p14:sldId id="264"/>
            <p14:sldId id="265"/>
          </p14:sldIdLst>
        </p14:section>
        <p14:section name="Close" id="{90a670b8-0b17-26f2-a217-12627dc88b9a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This is a chat assistant that answers from my own documents, across 18 models and three providers, and shows where every answer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things: it is a normal chatbot, it can answer from my documents with citations, and a second model can grade those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stack, layer by layer. LangGraph gives the agent loop and memory; Pinecone holds the vectors; three front ends share one retrieval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retrieval logic lives in two modules. The CLI, the web page and the chat app are all thin front ends over it — change the prompt once and all three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Load, chunk, embed, store. The OCR fallback only runs when normal extraction finds nothing, so a text PDF is not slowed down by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turns in a conversation are not document questions. Letting the model decide keeps ordinary chat ordinary, and lets it combine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cell here was tested by calling the model. The penalty row is the one that caught me out — the library declares the fields, the API refuses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judge is shown the question, the passages and the answer, and returns one word. Important caveat: a retrieval failure passes this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Indexing all five documents cost a fifth of a cent. Each question is about half a cent. Cost was never the constraint — correctness was.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these crashed. All three produced fluent, well-cited, wrong answers — which is the failure mode that actually matters in 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The hardest problem was not getting answers — it was making wrong ones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08792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703320"/>
            <a:ext cx="10908792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08792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08792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00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2C39A"/>
                </a:solidFill>
              </a:rPr>
              <a:t>A multi-model assistant that answers from your documents</a:t>
            </a:r>
            <a:endParaRPr lang="en-US" sz="1500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2286000"/>
            <a:ext cx="10908792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RAG Chat Assistant</a:t>
            </a:r>
            <a:endParaRPr lang="en-US" dirty="0"/>
          </a:p>
        </p:txBody>
      </p:sp>
      <p:sp>
        <p:nvSpPr>
          <p:cNvPr id="4" name="Text 2"/>
          <p:cNvSpPr/>
          <p:nvPr>
            <p:ph hasCustomPrompt="1"/>
          </p:nvPr>
        </p:nvSpPr>
        <p:spPr>
          <a:xfrm>
            <a:off x="640080" y="3703320"/>
            <a:ext cx="10908792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Architecture and design decisions  ·  Manasa Velagaleti</a:t>
            </a:r>
            <a:endParaRPr lang="en-US" dirty="0"/>
          </a:p>
        </p:txBody>
      </p:sp>
      <p:sp>
        <p:nvSpPr>
          <p:cNvPr id="5" name="chip1"/>
          <p:cNvSpPr/>
          <p:nvPr/>
        </p:nvSpPr>
        <p:spPr>
          <a:xfrm>
            <a:off x="640080" y="502920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502920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18 models</a:t>
            </a:r>
            <a:endParaRPr lang="en-US" sz="1100" dirty="0"/>
          </a:p>
        </p:txBody>
      </p:sp>
      <p:sp>
        <p:nvSpPr>
          <p:cNvPr id="7" name="chip2"/>
          <p:cNvSpPr/>
          <p:nvPr/>
        </p:nvSpPr>
        <p:spPr>
          <a:xfrm>
            <a:off x="2331720" y="502920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31720" y="502920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providers</a:t>
            </a:r>
            <a:endParaRPr lang="en-US" sz="1100" dirty="0"/>
          </a:p>
        </p:txBody>
      </p:sp>
      <p:sp>
        <p:nvSpPr>
          <p:cNvPr id="9" name="chip3"/>
          <p:cNvSpPr/>
          <p:nvPr/>
        </p:nvSpPr>
        <p:spPr>
          <a:xfrm>
            <a:off x="4023360" y="502920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502920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587 chunks</a:t>
            </a:r>
            <a:endParaRPr lang="en-US" sz="1100" dirty="0"/>
          </a:p>
        </p:txBody>
      </p:sp>
      <p:sp>
        <p:nvSpPr>
          <p:cNvPr id="11" name="chip4"/>
          <p:cNvSpPr/>
          <p:nvPr/>
        </p:nvSpPr>
        <p:spPr>
          <a:xfrm>
            <a:off x="5715000" y="502920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502920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 file types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What it does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234440"/>
            <a:ext cx="10908792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Three capabilities, one conversation</a:t>
            </a:r>
            <a:endParaRPr lang="en-US" dirty="0"/>
          </a:p>
        </p:txBody>
      </p:sp>
      <p:sp>
        <p:nvSpPr>
          <p:cNvPr id="4" name="card5"/>
          <p:cNvSpPr/>
          <p:nvPr/>
        </p:nvSpPr>
        <p:spPr>
          <a:xfrm>
            <a:off x="640080" y="1920240"/>
            <a:ext cx="3456432" cy="301752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num0"/>
          <p:cNvSpPr/>
          <p:nvPr/>
        </p:nvSpPr>
        <p:spPr>
          <a:xfrm>
            <a:off x="914400" y="221284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12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44368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Chats across 18 models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2907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Three providers, eight sampling controls, and memory that survives switching model mid-conversation.</a:t>
            </a:r>
            <a:endParaRPr lang="en-US" sz="1300" dirty="0"/>
          </a:p>
        </p:txBody>
      </p:sp>
      <p:sp>
        <p:nvSpPr>
          <p:cNvPr id="9" name="card6"/>
          <p:cNvSpPr/>
          <p:nvPr/>
        </p:nvSpPr>
        <p:spPr>
          <a:xfrm>
            <a:off x="4370832" y="1920240"/>
            <a:ext cx="3456432" cy="301752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num1"/>
          <p:cNvSpPr/>
          <p:nvPr/>
        </p:nvSpPr>
        <p:spPr>
          <a:xfrm>
            <a:off x="4645152" y="2212848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5152" y="2212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944368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Answers from your documents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3520440"/>
            <a:ext cx="2907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PDF, Word, CSV, text and Markdown — including scanned PDFs, read with OCR. Every answer cites its passages.</a:t>
            </a:r>
            <a:endParaRPr lang="en-US" sz="1300" dirty="0"/>
          </a:p>
        </p:txBody>
      </p:sp>
      <p:sp>
        <p:nvSpPr>
          <p:cNvPr id="14" name="card7"/>
          <p:cNvSpPr/>
          <p:nvPr/>
        </p:nvSpPr>
        <p:spPr>
          <a:xfrm>
            <a:off x="8101584" y="1920240"/>
            <a:ext cx="3456432" cy="301752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num2"/>
          <p:cNvSpPr/>
          <p:nvPr/>
        </p:nvSpPr>
        <p:spPr>
          <a:xfrm>
            <a:off x="8375904" y="2212848"/>
            <a:ext cx="566928" cy="5669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75904" y="2212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2944368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Checks its own work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3520440"/>
            <a:ext cx="2907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A second model from a different provider marks each answer correct or incorrect against the passages it used.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What it is built on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234440"/>
            <a:ext cx="10908792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Chosen for what each layer is actually good at</a:t>
            </a:r>
            <a:endParaRPr lang="en-US" dirty="0"/>
          </a:p>
        </p:txBody>
      </p:sp>
      <p:sp>
        <p:nvSpPr>
          <p:cNvPr id="4" name="card8"/>
          <p:cNvSpPr/>
          <p:nvPr/>
        </p:nvSpPr>
        <p:spPr>
          <a:xfrm>
            <a:off x="640080" y="1874520"/>
            <a:ext cx="10908792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dot0"/>
          <p:cNvSpPr/>
          <p:nvPr/>
        </p:nvSpPr>
        <p:spPr>
          <a:xfrm>
            <a:off x="841248" y="2066544"/>
            <a:ext cx="219456" cy="21945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07008" y="187452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Orchestration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187452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LangChain + LangGraph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187452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Agent loop, tool calling, and conversation memory via a checkpointer</a:t>
            </a:r>
            <a:endParaRPr lang="en-US" sz="1250" dirty="0"/>
          </a:p>
        </p:txBody>
      </p:sp>
      <p:sp>
        <p:nvSpPr>
          <p:cNvPr id="9" name="card9"/>
          <p:cNvSpPr/>
          <p:nvPr/>
        </p:nvSpPr>
        <p:spPr>
          <a:xfrm>
            <a:off x="640080" y="2587752"/>
            <a:ext cx="10908792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dot1"/>
          <p:cNvSpPr/>
          <p:nvPr/>
        </p:nvSpPr>
        <p:spPr>
          <a:xfrm>
            <a:off x="841248" y="2779776"/>
            <a:ext cx="219456" cy="21945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07008" y="258775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Generation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58775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18 models, 3 providers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258775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OpenAI · Google Gemini · Groq — switchable mid-conversation</a:t>
            </a:r>
            <a:endParaRPr lang="en-US" sz="1250" dirty="0"/>
          </a:p>
        </p:txBody>
      </p:sp>
      <p:sp>
        <p:nvSpPr>
          <p:cNvPr id="14" name="card10"/>
          <p:cNvSpPr/>
          <p:nvPr/>
        </p:nvSpPr>
        <p:spPr>
          <a:xfrm>
            <a:off x="640080" y="3300984"/>
            <a:ext cx="10908792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dot2"/>
          <p:cNvSpPr/>
          <p:nvPr/>
        </p:nvSpPr>
        <p:spPr>
          <a:xfrm>
            <a:off x="841248" y="3493008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07008" y="330098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Embeddings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330098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text-embedding-3-small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330098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1536 dimensions. Chosen by measurement, not by default</a:t>
            </a:r>
            <a:endParaRPr lang="en-US" sz="1250" dirty="0"/>
          </a:p>
        </p:txBody>
      </p:sp>
      <p:sp>
        <p:nvSpPr>
          <p:cNvPr id="19" name="card11"/>
          <p:cNvSpPr/>
          <p:nvPr/>
        </p:nvSpPr>
        <p:spPr>
          <a:xfrm>
            <a:off x="640080" y="4014216"/>
            <a:ext cx="10908792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dot3"/>
          <p:cNvSpPr/>
          <p:nvPr/>
        </p:nvSpPr>
        <p:spPr>
          <a:xfrm>
            <a:off x="841248" y="4206240"/>
            <a:ext cx="219456" cy="21945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07008" y="401421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Vector store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971800" y="401421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Pinecone (serverless)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080760" y="401421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Cosine similarity, one namespace per chunking strategy</a:t>
            </a:r>
            <a:endParaRPr lang="en-US" sz="1250" dirty="0"/>
          </a:p>
        </p:txBody>
      </p:sp>
      <p:sp>
        <p:nvSpPr>
          <p:cNvPr id="24" name="card12"/>
          <p:cNvSpPr/>
          <p:nvPr/>
        </p:nvSpPr>
        <p:spPr>
          <a:xfrm>
            <a:off x="640080" y="4727448"/>
            <a:ext cx="10908792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dot4"/>
          <p:cNvSpPr/>
          <p:nvPr/>
        </p:nvSpPr>
        <p:spPr>
          <a:xfrm>
            <a:off x="841248" y="4919472"/>
            <a:ext cx="219456" cy="21945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07008" y="472744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Documents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971800" y="472744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pypdf · docx2txt · RapidOCR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080760" y="472744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Five file types, with OCR fallback for scanned pages</a:t>
            </a:r>
            <a:endParaRPr lang="en-US" sz="1250" dirty="0"/>
          </a:p>
        </p:txBody>
      </p:sp>
      <p:sp>
        <p:nvSpPr>
          <p:cNvPr id="29" name="card13"/>
          <p:cNvSpPr/>
          <p:nvPr/>
        </p:nvSpPr>
        <p:spPr>
          <a:xfrm>
            <a:off x="640080" y="5440680"/>
            <a:ext cx="10908792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dot5"/>
          <p:cNvSpPr/>
          <p:nvPr/>
        </p:nvSpPr>
        <p:spPr>
          <a:xfrm>
            <a:off x="841248" y="5632704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207008" y="544068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Interface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971800" y="544068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Streamlit · React + FastAPI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080760" y="544068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Three front ends over one retrieval core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One core, three front ends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234440"/>
            <a:ext cx="10908792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retrieval logic is written once and shared</a:t>
            </a:r>
            <a:endParaRPr lang="en-US" dirty="0"/>
          </a:p>
        </p:txBody>
      </p:sp>
      <p:sp>
        <p:nvSpPr>
          <p:cNvPr id="4" name="card14"/>
          <p:cNvSpPr/>
          <p:nvPr/>
        </p:nvSpPr>
        <p:spPr>
          <a:xfrm>
            <a:off x="3108960" y="1965960"/>
            <a:ext cx="594360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108960" y="2148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core.py  +  rag_pinecone.py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2578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loading · chunking · embeddings · retrieval · generation</a:t>
            </a:r>
            <a:endParaRPr lang="en-US" sz="1300" dirty="0"/>
          </a:p>
        </p:txBody>
      </p:sp>
      <p:sp>
        <p:nvSpPr>
          <p:cNvPr id="7" name="card15"/>
          <p:cNvSpPr/>
          <p:nvPr/>
        </p:nvSpPr>
        <p:spPr>
          <a:xfrm>
            <a:off x="640080" y="4114800"/>
            <a:ext cx="3456432" cy="1371600"/>
          </a:xfrm>
          <a:prstGeom prst="roundRect">
            <a:avLst>
              <a:gd name="adj" fmla="val 5333"/>
            </a:avLst>
          </a:prstGeom>
          <a:solidFill>
            <a:srgbClr val="121A2B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429768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Terminal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64515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rag_pinecone.py --ask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956048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Scripting and testing</a:t>
            </a:r>
            <a:endParaRPr lang="en-US" sz="1200" dirty="0"/>
          </a:p>
        </p:txBody>
      </p:sp>
      <p:sp>
        <p:nvSpPr>
          <p:cNvPr id="11" name="arrow0"/>
          <p:cNvSpPr/>
          <p:nvPr/>
        </p:nvSpPr>
        <p:spPr>
          <a:xfrm>
            <a:off x="2368296" y="3337560"/>
            <a:ext cx="3712555" cy="7772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card16"/>
          <p:cNvSpPr/>
          <p:nvPr/>
        </p:nvSpPr>
        <p:spPr>
          <a:xfrm>
            <a:off x="4370832" y="4114800"/>
            <a:ext cx="3456432" cy="1371600"/>
          </a:xfrm>
          <a:prstGeom prst="roundRect">
            <a:avLst>
              <a:gd name="adj" fmla="val 5333"/>
            </a:avLst>
          </a:prstGeom>
          <a:solidFill>
            <a:srgbClr val="121A2B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9432" y="429768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Streamlit app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464515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4956048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The full assistant</a:t>
            </a:r>
            <a:endParaRPr lang="en-US" sz="1200" dirty="0"/>
          </a:p>
        </p:txBody>
      </p:sp>
      <p:sp>
        <p:nvSpPr>
          <p:cNvPr id="16" name="arrow1"/>
          <p:cNvSpPr/>
          <p:nvPr/>
        </p:nvSpPr>
        <p:spPr>
          <a:xfrm>
            <a:off x="6099048" y="3337560"/>
            <a:ext cx="-18197" cy="7772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card17"/>
          <p:cNvSpPr/>
          <p:nvPr/>
        </p:nvSpPr>
        <p:spPr>
          <a:xfrm>
            <a:off x="8101584" y="4114800"/>
            <a:ext cx="3456432" cy="1371600"/>
          </a:xfrm>
          <a:prstGeom prst="roundRect">
            <a:avLst>
              <a:gd name="adj" fmla="val 5333"/>
            </a:avLst>
          </a:prstGeom>
          <a:solidFill>
            <a:srgbClr val="121A2B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30184" y="429768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React + FastAPI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30184" y="464515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rag_web/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30184" y="4956048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Document Q&amp;A page</a:t>
            </a:r>
            <a:endParaRPr lang="en-US" sz="1200" dirty="0"/>
          </a:p>
        </p:txBody>
      </p:sp>
      <p:sp>
        <p:nvSpPr>
          <p:cNvPr id="21" name="arrow2"/>
          <p:cNvSpPr/>
          <p:nvPr/>
        </p:nvSpPr>
        <p:spPr>
          <a:xfrm>
            <a:off x="9829800" y="3337560"/>
            <a:ext cx="-3748949" cy="7772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</a:rPr>
              <a:t>Adding a front end means writing an interface, not another RAG pipeline.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How a document becomes searchable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234440"/>
            <a:ext cx="10908792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Four steps, paid once per document</a:t>
            </a:r>
            <a:endParaRPr lang="en-US" dirty="0"/>
          </a:p>
        </p:txBody>
      </p:sp>
      <p:sp>
        <p:nvSpPr>
          <p:cNvPr id="4" name="card18"/>
          <p:cNvSpPr/>
          <p:nvPr/>
        </p:nvSpPr>
        <p:spPr>
          <a:xfrm>
            <a:off x="640080" y="2103120"/>
            <a:ext cx="2514600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t0"/>
          <p:cNvSpPr/>
          <p:nvPr/>
        </p:nvSpPr>
        <p:spPr>
          <a:xfrm>
            <a:off x="1682496" y="2286000"/>
            <a:ext cx="429768" cy="4297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82496" y="228600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163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Load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</a:rPr>
              <a:t>PDF · DOCX · CSV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</a:rPr>
              <a:t>TXT · MD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40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Scanned PDFs fall back to OCR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163824" y="301752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card19"/>
          <p:cNvSpPr/>
          <p:nvPr/>
        </p:nvSpPr>
        <p:spPr>
          <a:xfrm>
            <a:off x="3474720" y="2103120"/>
            <a:ext cx="2514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t1"/>
          <p:cNvSpPr/>
          <p:nvPr/>
        </p:nvSpPr>
        <p:spPr>
          <a:xfrm>
            <a:off x="4517136" y="2286000"/>
            <a:ext cx="429768" cy="4297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17136" y="228600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8163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Chunk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200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</a:rPr>
              <a:t>700 characters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</a:rPr>
              <a:t>recursive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3840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Split on paragraph, then sentence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998464" y="301752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card20"/>
          <p:cNvSpPr/>
          <p:nvPr/>
        </p:nvSpPr>
        <p:spPr>
          <a:xfrm>
            <a:off x="6309360" y="2103120"/>
            <a:ext cx="2514600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t2"/>
          <p:cNvSpPr/>
          <p:nvPr/>
        </p:nvSpPr>
        <p:spPr>
          <a:xfrm>
            <a:off x="7351776" y="2286000"/>
            <a:ext cx="429768" cy="4297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51776" y="228600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8163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Embed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200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</a:rPr>
              <a:t>text-embedding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</a:rPr>
              <a:t>-3-small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840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1536 numbers per chunk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833104" y="301752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card21"/>
          <p:cNvSpPr/>
          <p:nvPr/>
        </p:nvSpPr>
        <p:spPr>
          <a:xfrm>
            <a:off x="9144000" y="2103120"/>
            <a:ext cx="2514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t3"/>
          <p:cNvSpPr/>
          <p:nvPr/>
        </p:nvSpPr>
        <p:spPr>
          <a:xfrm>
            <a:off x="10186416" y="2286000"/>
            <a:ext cx="429768" cy="4297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86416" y="228600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326880" y="28163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Store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3200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</a:rPr>
              <a:t>Pinecone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</a:rPr>
              <a:t>namespace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326880" y="3840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Cosine similarity search</a:t>
            </a:r>
            <a:endParaRPr lang="en-US" sz="1150" dirty="0"/>
          </a:p>
        </p:txBody>
      </p:sp>
      <p:sp>
        <p:nvSpPr>
          <p:cNvPr id="31" name="card22"/>
          <p:cNvSpPr/>
          <p:nvPr/>
        </p:nvSpPr>
        <p:spPr>
          <a:xfrm>
            <a:off x="640080" y="470916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DF3E7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48920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</a:rPr>
              <a:t>Scanned PDFs: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scan has no text layer — pypdf finds nothing. Each page is rendered to a bitmap and read with OCR, but only after plain extraction comes back empty, so ordinary PDFs pay nothing for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Retrieval is a tool, not a pipeline step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234440"/>
            <a:ext cx="10908792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model decides when to search</a:t>
            </a:r>
            <a:endParaRPr lang="en-US" dirty="0"/>
          </a:p>
        </p:txBody>
      </p:sp>
      <p:sp>
        <p:nvSpPr>
          <p:cNvPr id="4" name="card23"/>
          <p:cNvSpPr/>
          <p:nvPr/>
        </p:nvSpPr>
        <p:spPr>
          <a:xfrm>
            <a:off x="640080" y="1965960"/>
            <a:ext cx="53949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4748B"/>
                </a:solidFill>
              </a:rPr>
              <a:t>Search before every message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974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</a:rPr>
              <a:t>Every “hello” triggers a search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</a:rPr>
              <a:t>Irrelevant passages enter the context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</a:rPr>
              <a:t>Costs a retrieval on every turn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</a:rPr>
              <a:t>Cannot combine documents with what the user says</a:t>
            </a:r>
            <a:endParaRPr lang="en-US" sz="1350" dirty="0"/>
          </a:p>
        </p:txBody>
      </p:sp>
      <p:sp>
        <p:nvSpPr>
          <p:cNvPr id="7" name="card24"/>
          <p:cNvSpPr/>
          <p:nvPr/>
        </p:nvSpPr>
        <p:spPr>
          <a:xfrm>
            <a:off x="6355080" y="1965960"/>
            <a:ext cx="5193792" cy="32004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</a:rPr>
              <a:t>A tool the model can call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6974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Chitchat costs nothing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Searches again when the question changes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Blends document facts with what you tell it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Needs a model that supports tool calling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4864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C7293"/>
                </a:solidFill>
              </a:rPr>
              <a:t>“I know Python but have 1 year of experience — am I a fit?”  needs the document and the user together. A fixed pipeline cannot answer it.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Not every model supports every control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234440"/>
            <a:ext cx="10908792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Verified by testing each one, not by reading documentation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39496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OpenAI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Gemini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23544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Groq</a:t>
            </a:r>
            <a:endParaRPr lang="en-US" sz="1300" dirty="0"/>
          </a:p>
        </p:txBody>
      </p:sp>
      <p:sp>
        <p:nvSpPr>
          <p:cNvPr id="8" name="card25"/>
          <p:cNvSpPr/>
          <p:nvPr/>
        </p:nvSpPr>
        <p:spPr>
          <a:xfrm>
            <a:off x="640080" y="2532888"/>
            <a:ext cx="10908792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53288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Temperature, Top P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25328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65A82"/>
                </a:solidFill>
              </a:rPr>
              <a:t>Yes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25328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65A82"/>
                </a:solidFill>
              </a:rPr>
              <a:t>Yes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235440" y="253288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65A82"/>
                </a:solidFill>
              </a:rPr>
              <a:t>Yes</a:t>
            </a:r>
            <a:endParaRPr lang="en-US" sz="1250" dirty="0"/>
          </a:p>
        </p:txBody>
      </p:sp>
      <p:sp>
        <p:nvSpPr>
          <p:cNvPr id="13" name="card26"/>
          <p:cNvSpPr/>
          <p:nvPr/>
        </p:nvSpPr>
        <p:spPr>
          <a:xfrm>
            <a:off x="640080" y="3099816"/>
            <a:ext cx="1090879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09981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Top K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309981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833A"/>
                </a:solidFill>
              </a:rPr>
              <a:t>No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309981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65A82"/>
                </a:solidFill>
              </a:rPr>
              <a:t>Yes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309981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833A"/>
                </a:solidFill>
              </a:rPr>
              <a:t>No</a:t>
            </a:r>
            <a:endParaRPr lang="en-US" sz="1250" dirty="0"/>
          </a:p>
        </p:txBody>
      </p:sp>
      <p:sp>
        <p:nvSpPr>
          <p:cNvPr id="18" name="card27"/>
          <p:cNvSpPr/>
          <p:nvPr/>
        </p:nvSpPr>
        <p:spPr>
          <a:xfrm>
            <a:off x="640080" y="3666744"/>
            <a:ext cx="10908792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66674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Frequency / presence penalty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366674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65A82"/>
                </a:solidFill>
              </a:rPr>
              <a:t>Yes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66674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833A"/>
                </a:solidFill>
              </a:rPr>
              <a:t>No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36667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65A82"/>
                </a:solidFill>
              </a:rPr>
              <a:t>Yes</a:t>
            </a:r>
            <a:endParaRPr lang="en-US" sz="1250" dirty="0"/>
          </a:p>
        </p:txBody>
      </p:sp>
      <p:sp>
        <p:nvSpPr>
          <p:cNvPr id="23" name="card28"/>
          <p:cNvSpPr/>
          <p:nvPr/>
        </p:nvSpPr>
        <p:spPr>
          <a:xfrm>
            <a:off x="640080" y="4233672"/>
            <a:ext cx="1090879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23367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Seed, stop sequences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42336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65A82"/>
                </a:solidFill>
              </a:rPr>
              <a:t>Yes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42336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65A82"/>
                </a:solidFill>
              </a:rPr>
              <a:t>Yes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42336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65A82"/>
                </a:solidFill>
              </a:rPr>
              <a:t>Yes</a:t>
            </a:r>
            <a:endParaRPr lang="en-US" sz="1250" dirty="0"/>
          </a:p>
        </p:txBody>
      </p:sp>
      <p:sp>
        <p:nvSpPr>
          <p:cNvPr id="28" name="card29"/>
          <p:cNvSpPr/>
          <p:nvPr/>
        </p:nvSpPr>
        <p:spPr>
          <a:xfrm>
            <a:off x="640080" y="4800600"/>
            <a:ext cx="10908792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800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Tool calling (document search)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48006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65A82"/>
                </a:solidFill>
              </a:rPr>
              <a:t>Yes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315200" y="48006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65A82"/>
                </a:solidFill>
              </a:rPr>
              <a:t>Yes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235440" y="48006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65A82"/>
                </a:solidFill>
              </a:rPr>
              <a:t>4 of 7 models</a:t>
            </a:r>
            <a:endParaRPr lang="en-US" sz="1250" dirty="0"/>
          </a:p>
        </p:txBody>
      </p:sp>
      <p:sp>
        <p:nvSpPr>
          <p:cNvPr id="33" name="card30"/>
          <p:cNvSpPr/>
          <p:nvPr/>
        </p:nvSpPr>
        <p:spPr>
          <a:xfrm>
            <a:off x="640080" y="544068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FDF3E7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4400" y="562356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</a:rPr>
              <a:t>Declaring is not supporting.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Gemini client declares both penalty fields, but the API rejects them with a 400. The app hides what will not work rather than letting the request fail.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 second model marks the first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234440"/>
            <a:ext cx="10908792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LLM-as-judge, across providers on purpose</a:t>
            </a:r>
            <a:endParaRPr lang="en-US" dirty="0"/>
          </a:p>
        </p:txBody>
      </p:sp>
      <p:sp>
        <p:nvSpPr>
          <p:cNvPr id="4" name="card31"/>
          <p:cNvSpPr/>
          <p:nvPr/>
        </p:nvSpPr>
        <p:spPr>
          <a:xfrm>
            <a:off x="640080" y="2011680"/>
            <a:ext cx="3840480" cy="713232"/>
          </a:xfrm>
          <a:prstGeom prst="roundRect">
            <a:avLst>
              <a:gd name="adj" fmla="val 10256"/>
            </a:avLst>
          </a:prstGeom>
          <a:solidFill>
            <a:srgbClr val="121A2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Question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201168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What the user asked</a:t>
            </a:r>
            <a:endParaRPr lang="en-US" sz="1200" dirty="0"/>
          </a:p>
        </p:txBody>
      </p:sp>
      <p:sp>
        <p:nvSpPr>
          <p:cNvPr id="7" name="card32"/>
          <p:cNvSpPr/>
          <p:nvPr/>
        </p:nvSpPr>
        <p:spPr>
          <a:xfrm>
            <a:off x="640080" y="2880360"/>
            <a:ext cx="3840480" cy="713232"/>
          </a:xfrm>
          <a:prstGeom prst="roundRect">
            <a:avLst>
              <a:gd name="adj" fmla="val 10256"/>
            </a:avLst>
          </a:prstGeom>
          <a:solidFill>
            <a:srgbClr val="121A2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8803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Passages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88036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What retrieval returned</a:t>
            </a:r>
            <a:endParaRPr lang="en-US" sz="1200" dirty="0"/>
          </a:p>
        </p:txBody>
      </p:sp>
      <p:sp>
        <p:nvSpPr>
          <p:cNvPr id="10" name="card33"/>
          <p:cNvSpPr/>
          <p:nvPr/>
        </p:nvSpPr>
        <p:spPr>
          <a:xfrm>
            <a:off x="640080" y="3749040"/>
            <a:ext cx="3840480" cy="713232"/>
          </a:xfrm>
          <a:prstGeom prst="roundRect">
            <a:avLst>
              <a:gd name="adj" fmla="val 10256"/>
            </a:avLst>
          </a:prstGeom>
          <a:solidFill>
            <a:srgbClr val="121A2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74904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Answer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374904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What the first model said</a:t>
            </a:r>
            <a:endParaRPr lang="en-US" sz="1200" dirty="0"/>
          </a:p>
        </p:txBody>
      </p:sp>
      <p:sp>
        <p:nvSpPr>
          <p:cNvPr id="13" name="jarrow"/>
          <p:cNvSpPr/>
          <p:nvPr/>
        </p:nvSpPr>
        <p:spPr>
          <a:xfrm>
            <a:off x="4572000" y="3154680"/>
            <a:ext cx="13716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4" name="card34"/>
          <p:cNvSpPr/>
          <p:nvPr/>
        </p:nvSpPr>
        <p:spPr>
          <a:xfrm>
            <a:off x="6035040" y="2286000"/>
            <a:ext cx="283464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2514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Judge model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880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different provider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291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“correct” / “incorrect”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Why a different provider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6517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A model marking its own work mostly agrees with itself. Two models from one family share training — and tend to share mistakes.</a:t>
            </a:r>
            <a:endParaRPr lang="en-US" sz="1200" dirty="0"/>
          </a:p>
        </p:txBody>
      </p:sp>
      <p:sp>
        <p:nvSpPr>
          <p:cNvPr id="20" name="card35"/>
          <p:cNvSpPr/>
          <p:nvPr/>
        </p:nvSpPr>
        <p:spPr>
          <a:xfrm>
            <a:off x="640080" y="4572000"/>
            <a:ext cx="10908792" cy="1371600"/>
          </a:xfrm>
          <a:prstGeom prst="roundRect">
            <a:avLst>
              <a:gd name="adj" fmla="val 5333"/>
            </a:avLst>
          </a:prstGeom>
          <a:solidFill>
            <a:srgbClr val="121A2B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7548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</a:rPr>
              <a:t>What it measures — and what it does not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10235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BD5E1"/>
                </a:solidFill>
              </a:rPr>
              <a:t>Five questions scored 10/10 by two judges. One was wrong anyway: the answer said visa sponsorship was not mentioned, the judges agreed — and the document does mention it, on a page OCR had mangled. The judge sees the retrieved passages, so it measures faithfulness to retrieval, not retrieval itself.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By the numbers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234440"/>
            <a:ext cx="10908792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Five documents indexed, measured on the running system</a:t>
            </a:r>
            <a:endParaRPr lang="en-US" dirty="0"/>
          </a:p>
        </p:txBody>
      </p:sp>
      <p:sp>
        <p:nvSpPr>
          <p:cNvPr id="4" name="card36"/>
          <p:cNvSpPr/>
          <p:nvPr/>
        </p:nvSpPr>
        <p:spPr>
          <a:xfrm>
            <a:off x="640080" y="2011680"/>
            <a:ext cx="3456432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67712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587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chunks indexed</a:t>
            </a:r>
            <a:endParaRPr lang="en-US" sz="1300" dirty="0"/>
          </a:p>
        </p:txBody>
      </p:sp>
      <p:sp>
        <p:nvSpPr>
          <p:cNvPr id="7" name="card37"/>
          <p:cNvSpPr/>
          <p:nvPr/>
        </p:nvSpPr>
        <p:spPr>
          <a:xfrm>
            <a:off x="4370832" y="2011680"/>
            <a:ext cx="3456432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5152" y="2267712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293"/>
                </a:solidFill>
              </a:rPr>
              <a:t>1,536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45152" y="306324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dimensions per chunk</a:t>
            </a:r>
            <a:endParaRPr lang="en-US" sz="1300" dirty="0"/>
          </a:p>
        </p:txBody>
      </p:sp>
      <p:sp>
        <p:nvSpPr>
          <p:cNvPr id="10" name="card38"/>
          <p:cNvSpPr/>
          <p:nvPr/>
        </p:nvSpPr>
        <p:spPr>
          <a:xfrm>
            <a:off x="8101584" y="2011680"/>
            <a:ext cx="3456432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5904" y="2267712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</a:rPr>
              <a:t>18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375904" y="306324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models available</a:t>
            </a:r>
            <a:endParaRPr lang="en-US" sz="1300" dirty="0"/>
          </a:p>
        </p:txBody>
      </p:sp>
      <p:sp>
        <p:nvSpPr>
          <p:cNvPr id="13" name="card39"/>
          <p:cNvSpPr/>
          <p:nvPr/>
        </p:nvSpPr>
        <p:spPr>
          <a:xfrm>
            <a:off x="640080" y="3977640"/>
            <a:ext cx="3456432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4400" y="4233672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$0.0002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02920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to index everything</a:t>
            </a:r>
            <a:endParaRPr lang="en-US" sz="1300" dirty="0"/>
          </a:p>
        </p:txBody>
      </p:sp>
      <p:sp>
        <p:nvSpPr>
          <p:cNvPr id="16" name="card40"/>
          <p:cNvSpPr/>
          <p:nvPr/>
        </p:nvSpPr>
        <p:spPr>
          <a:xfrm>
            <a:off x="4370832" y="3977640"/>
            <a:ext cx="3456432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645152" y="4233672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293"/>
                </a:solidFill>
              </a:rPr>
              <a:t>$0.0005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4645152" y="502920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per question asked</a:t>
            </a:r>
            <a:endParaRPr lang="en-US" sz="1300" dirty="0"/>
          </a:p>
        </p:txBody>
      </p:sp>
      <p:sp>
        <p:nvSpPr>
          <p:cNvPr id="19" name="card41"/>
          <p:cNvSpPr/>
          <p:nvPr/>
        </p:nvSpPr>
        <p:spPr>
          <a:xfrm>
            <a:off x="8101584" y="3977640"/>
            <a:ext cx="3456432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375904" y="4233672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</a:rPr>
              <a:t>~2s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502920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to answer with sources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hard part was not getting answers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234440"/>
            <a:ext cx="10908792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Every one of these produced a confident, fluent, wrong result</a:t>
            </a:r>
            <a:endParaRPr lang="en-US" dirty="0"/>
          </a:p>
        </p:txBody>
      </p:sp>
      <p:sp>
        <p:nvSpPr>
          <p:cNvPr id="4" name="card42"/>
          <p:cNvSpPr/>
          <p:nvPr/>
        </p:nvSpPr>
        <p:spPr>
          <a:xfrm>
            <a:off x="640080" y="1874520"/>
            <a:ext cx="10908792" cy="1298448"/>
          </a:xfrm>
          <a:prstGeom prst="roundRect">
            <a:avLst>
              <a:gd name="adj" fmla="val 5634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p0"/>
          <p:cNvSpPr/>
          <p:nvPr/>
        </p:nvSpPr>
        <p:spPr>
          <a:xfrm>
            <a:off x="896112" y="2331720"/>
            <a:ext cx="384048" cy="38404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2082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Answered from the wrong corpus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317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A question about a job title was answered from a 10-K filing — the index being searched had been built before that document was uploaded.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743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</a:rPr>
              <a:t>The app now refuses a stale index instead of answering from it.</a:t>
            </a:r>
            <a:endParaRPr lang="en-US" sz="1250" dirty="0"/>
          </a:p>
        </p:txBody>
      </p:sp>
      <p:sp>
        <p:nvSpPr>
          <p:cNvPr id="10" name="card43"/>
          <p:cNvSpPr/>
          <p:nvPr/>
        </p:nvSpPr>
        <p:spPr>
          <a:xfrm>
            <a:off x="640080" y="3337560"/>
            <a:ext cx="10908792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p1"/>
          <p:cNvSpPr/>
          <p:nvPr/>
        </p:nvSpPr>
        <p:spPr>
          <a:xfrm>
            <a:off x="896112" y="3794760"/>
            <a:ext cx="384048" cy="38404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48386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Reused passages from the previous question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79476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Asked about experience right after salary, it reported experience was not specified. It is — on a page it never went back for.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2062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</a:rPr>
              <a:t>The prompt now requires a fresh search when the subject changes.</a:t>
            </a:r>
            <a:endParaRPr lang="en-US" sz="1250" dirty="0"/>
          </a:p>
        </p:txBody>
      </p:sp>
      <p:sp>
        <p:nvSpPr>
          <p:cNvPr id="16" name="card44"/>
          <p:cNvSpPr/>
          <p:nvPr/>
        </p:nvSpPr>
        <p:spPr>
          <a:xfrm>
            <a:off x="640080" y="4800600"/>
            <a:ext cx="10908792" cy="1298448"/>
          </a:xfrm>
          <a:prstGeom prst="roundRect">
            <a:avLst>
              <a:gd name="adj" fmla="val 5634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p2"/>
          <p:cNvSpPr/>
          <p:nvPr/>
        </p:nvSpPr>
        <p:spPr>
          <a:xfrm>
            <a:off x="896112" y="5257800"/>
            <a:ext cx="384048" cy="38404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94690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OCR mangled one line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52578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A sentence about visa sponsorship was garbled, so retrieval never found it. Both judges still marked the answer correct.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6692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</a:rPr>
              <a:t>Documented rather than hidden: evaluation cannot catch this.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00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2C39A"/>
                </a:solidFill>
              </a:rPr>
              <a:t>WHAT I TOOK FROM IT</a:t>
            </a:r>
            <a:endParaRPr lang="en-US" sz="1500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2286000"/>
            <a:ext cx="10908792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Making wrong answers visible</a:t>
            </a:r>
            <a:endParaRPr lang="en-US" dirty="0"/>
          </a:p>
        </p:txBody>
      </p:sp>
      <p:sp>
        <p:nvSpPr>
          <p:cNvPr id="4" name="Text 2"/>
          <p:cNvSpPr/>
          <p:nvPr>
            <p:ph hasCustomPrompt="1"/>
          </p:nvPr>
        </p:nvSpPr>
        <p:spPr>
          <a:xfrm>
            <a:off x="640080" y="3703320"/>
            <a:ext cx="10908792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 RAG system that fails does not look broken — it looks confident. So every answer cites its passages, stale indexes are refused, and a second model can mark the work.</a:t>
            </a:r>
            <a:endParaRPr lang="en-US" dirty="0"/>
          </a:p>
        </p:txBody>
      </p:sp>
      <p:sp>
        <p:nvSpPr>
          <p:cNvPr id="5" name="chip45"/>
          <p:cNvSpPr/>
          <p:nvPr/>
        </p:nvSpPr>
        <p:spPr>
          <a:xfrm>
            <a:off x="640080" y="5120640"/>
            <a:ext cx="338328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51206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Sources on every answer</a:t>
            </a:r>
            <a:endParaRPr lang="en-US" sz="1100" dirty="0"/>
          </a:p>
        </p:txBody>
      </p:sp>
      <p:sp>
        <p:nvSpPr>
          <p:cNvPr id="7" name="chip46"/>
          <p:cNvSpPr/>
          <p:nvPr/>
        </p:nvSpPr>
        <p:spPr>
          <a:xfrm>
            <a:off x="4389120" y="5120640"/>
            <a:ext cx="338328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51206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Stale indexes refused</a:t>
            </a:r>
            <a:endParaRPr lang="en-US" sz="1100" dirty="0"/>
          </a:p>
        </p:txBody>
      </p:sp>
      <p:sp>
        <p:nvSpPr>
          <p:cNvPr id="9" name="chip47"/>
          <p:cNvSpPr/>
          <p:nvPr/>
        </p:nvSpPr>
        <p:spPr>
          <a:xfrm>
            <a:off x="8138160" y="5120640"/>
            <a:ext cx="338328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38160" y="51206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 second model grades 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github.com/manasa-velagaleti/first_chat_bot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G Assistant">
  <a:themeElements>
    <a:clrScheme name="RAG Assistant">
      <a:dk1>
        <a:srgbClr val="121A2B"/>
      </a:dk1>
      <a:lt1>
        <a:srgbClr val="FFFFFF"/>
      </a:lt1>
      <a:dk2>
        <a:srgbClr val="21295C"/>
      </a:dk2>
      <a:lt2>
        <a:srgbClr val="F1F5F9"/>
      </a:lt2>
      <a:accent1>
        <a:srgbClr val="065A82"/>
      </a:accent1>
      <a:accent2>
        <a:srgbClr val="1C7293"/>
      </a:accent2>
      <a:accent3>
        <a:srgbClr val="02C39A"/>
      </a:accent3>
      <a:accent4>
        <a:srgbClr val="E8833A"/>
      </a:accent4>
      <a:accent5>
        <a:srgbClr val="64748B"/>
      </a:accent5>
      <a:accent6>
        <a:srgbClr val="CBD5E1"/>
      </a:accent6>
      <a:hlink>
        <a:srgbClr val="1C7293"/>
      </a:hlink>
      <a:folHlink>
        <a:srgbClr val="64748B"/>
      </a:folHlink>
    </a:clrScheme>
    <a:fontScheme name="RAG Assista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Chat Assistant — Architecture</dc:title>
  <dc:subject>PptxGenJS Presentation</dc:subject>
  <dc:creator>Manasa</dc:creator>
  <cp:lastModifiedBy>Manasa</cp:lastModifiedBy>
  <cp:revision>1</cp:revision>
  <dcterms:created xsi:type="dcterms:W3CDTF">2026-10-18T15:53:42Z</dcterms:created>
  <dcterms:modified xsi:type="dcterms:W3CDTF">2026-10-18T15:53:42Z</dcterms:modified>
</cp:coreProperties>
</file>